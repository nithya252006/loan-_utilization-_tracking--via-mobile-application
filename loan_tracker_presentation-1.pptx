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12188952" cy="2194560"/>
          </a:xfrm>
          <a:prstGeom prst="rect">
            <a:avLst/>
          </a:prstGeom>
          <a:solidFill>
            <a:srgbClr val="121D33"/>
          </a:solidFill>
          <a:ln/>
        </p:spPr>
      </p:sp>
      <p:pic>
        <p:nvPicPr>
          <p:cNvPr id="3" name="Image 0" descr="/home/claude/ppt/assets/icons/lo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9659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063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for loan applications, utilization proof, and officer-verified approvals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3886200"/>
            <a:ext cx="1554480" cy="384048"/>
          </a:xfrm>
          <a:prstGeom prst="rect">
            <a:avLst>
              <a:gd name="adj" fmla="val 19048"/>
            </a:avLst>
          </a:prstGeom>
          <a:solidFill>
            <a:srgbClr val="0F9D9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886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Nithya Sri 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440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•  MySQL  •  HTML/CSS/JavaScript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can't easily verify how loan money is actually spent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35661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5" name="Image 0" descr="/home/claude/ppt/assets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26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utilization proof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22960" y="35661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loan is disbursed, banks have no simple way to confirm the funds were used for the stated purpose.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16552" y="1965960"/>
            <a:ext cx="3611880" cy="35661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9" name="Image 1" descr="/home/claude/ppt/assets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2860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90872" y="2926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paper-based checks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690872" y="35661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receipts and matching them to loan purpose is slow and inconsistent across officers.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84464" y="1965960"/>
            <a:ext cx="3611880" cy="35661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13" name="Image 2" descr="/home/claude/ppt/assets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2860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58784" y="2926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Mismatches go unnoticed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8558784" y="35661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taken for 'Education' being spent on unrelated purchases can easily slip through without a systematic flag.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the full loan lifecycle — application to verified utilization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system where customers apply for loans and prove how funds were spent, while officers review, verify, and decide — with mismatches flagged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89611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4600"/>
            <a:ext cx="896112" cy="896112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ppt/assets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72491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6060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846320" y="2606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loans, upload receipts, track utilization %, export reports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538728"/>
            <a:ext cx="11064240" cy="89611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3538728"/>
            <a:ext cx="896112" cy="896112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ppt/assets/icons/b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749040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63016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portal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846320" y="3630168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login; approve/reject loans and receipts with remarks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562856"/>
            <a:ext cx="11064240" cy="89611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4562856"/>
            <a:ext cx="896112" cy="896112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7" name="Image 2" descr="/home/claude/ppt/assets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773168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654296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utilization calc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846320" y="4654296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/ remaining amount and % computed from verified receipts only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5586984"/>
            <a:ext cx="11064240" cy="89611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6"/>
          <p:cNvSpPr/>
          <p:nvPr/>
        </p:nvSpPr>
        <p:spPr>
          <a:xfrm>
            <a:off x="548640" y="5586984"/>
            <a:ext cx="896112" cy="896112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2" name="Image 3" descr="/home/claude/ppt/assets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797296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567842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validation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4846320" y="5678424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flag when receipt category doesn't match loan purpose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5" name="Image 0" descr="/home/claude/ppt/assets/icons/html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1031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5112" y="182880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9" name="Image 1" descr="/home/claude/ppt/assets/icons/cs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10312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13832" y="21031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45152" y="2971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responsive layout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01584" y="182880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3" name="Image 2" descr="/home/claude/ppt/assets/icons/javascri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10312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90304" y="21031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421624" y="2971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visualizations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7" name="Image 3" descr="/home/claude/ppt/assets/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685800" cy="685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4343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868680" y="52120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25112" y="406908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21" name="Image 4" descr="/home/claude/ppt/assets/icons/mysq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343400"/>
            <a:ext cx="685800" cy="685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13832" y="4343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4645152" y="52120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101584" y="406908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25" name="Image 5" descr="/home/claude/ppt/assets/icons/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4343400"/>
            <a:ext cx="685800" cy="685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290304" y="4343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+ Aiven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8421624" y="52120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managed DB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Web Application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renders HTML templates directly — no separate frontend/backend split, no REST API layer needed for this scope.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2356" y="3017520"/>
            <a:ext cx="3017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31750">
            <a:solidFill>
              <a:srgbClr val="1B2A4A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6" name="Image 0" descr="/home/claude/ppt/assets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76" y="32461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2356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2356" y="43891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 or Officer)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25596" y="3931920"/>
            <a:ext cx="914400" cy="274320"/>
          </a:xfrm>
          <a:prstGeom prst="rightArrow">
            <a:avLst/>
          </a:prstGeom>
          <a:solidFill>
            <a:srgbClr val="C9D3E0"/>
          </a:solidFill>
          <a:ln/>
        </p:spPr>
      </p:sp>
      <p:sp>
        <p:nvSpPr>
          <p:cNvPr id="10" name="Shape 7"/>
          <p:cNvSpPr/>
          <p:nvPr/>
        </p:nvSpPr>
        <p:spPr>
          <a:xfrm>
            <a:off x="4585716" y="3017520"/>
            <a:ext cx="3017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31750">
            <a:solidFill>
              <a:srgbClr val="0F9D93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1" name="Image 1" descr="/home/claude/ppt/assets/icons/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36" y="32461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5716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85716" y="43891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sessions,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648956" y="3931920"/>
            <a:ext cx="914400" cy="274320"/>
          </a:xfrm>
          <a:prstGeom prst="rightArrow">
            <a:avLst/>
          </a:prstGeom>
          <a:solidFill>
            <a:srgbClr val="C9D3E0"/>
          </a:solidFill>
          <a:ln/>
        </p:spPr>
      </p:sp>
      <p:sp>
        <p:nvSpPr>
          <p:cNvPr id="15" name="Shape 11"/>
          <p:cNvSpPr/>
          <p:nvPr/>
        </p:nvSpPr>
        <p:spPr>
          <a:xfrm>
            <a:off x="8609076" y="3017520"/>
            <a:ext cx="3017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3175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6" name="Image 2" descr="/home/claude/ppt/assets/icons/mysq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796" y="32461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09076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(Aiven)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09076" y="43891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loans,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tables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Environment-variable driven DB config — same code runs against local MySQL or Aiven in production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3000" dirty="0"/>
          </a:p>
        </p:txBody>
      </p:sp>
      <p:pic>
        <p:nvPicPr>
          <p:cNvPr id="4" name="Image 0" descr="/home/claude/ppt/assets/use_cas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51760" y="1417320"/>
            <a:ext cx="685800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3000" dirty="0"/>
          </a:p>
        </p:txBody>
      </p:sp>
      <p:pic>
        <p:nvPicPr>
          <p:cNvPr id="4" name="Image 0" descr="/home/claude/ppt/assets/er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103120"/>
            <a:ext cx="1124712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loans → receipts, all linked with ON DELETE CASCADE foreign keys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14884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5" name="Image 0" descr="/home/claude/ppt/assets/icons/lo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8424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532888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CRUD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292608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delete, search loans with status tracking (Pending / Approved / Rejected / Completed)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3355848" y="1783080"/>
            <a:ext cx="2606040" cy="214884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9" name="Image 1" descr="/home/claude/ppt/assets/icons/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98424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57016" y="2532888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Upload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557016" y="292608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PNG/JPG/PDF upload, category-tagged, 5MB limit, sanitized filenames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6163056" y="1783080"/>
            <a:ext cx="2606040" cy="214884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13" name="Image 2" descr="/home/claude/ppt/assets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98424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64224" y="2532888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Tracking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64224" y="292608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amount, remaining amount, and % — calculated only from officer-verified receipts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8970264" y="1783080"/>
            <a:ext cx="2606040" cy="214884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17" name="Image 3" descr="/home/claude/ppt/assets/icons/ba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98424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71432" y="2532888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Portal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171432" y="292608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login and session role; approve/reject with remarks</a:t>
            </a:r>
            <a:endParaRPr lang="en-US" sz="98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2606040" cy="214884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21" name="Image 4" descr="/home/claude/ppt/assets/icons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36168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9808" y="4910328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Validation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49808" y="530352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Auto-flags a receipt when its category doesn't match the loan's declared purpose</a:t>
            </a:r>
            <a:endParaRPr lang="en-US" sz="980" dirty="0"/>
          </a:p>
        </p:txBody>
      </p:sp>
      <p:sp>
        <p:nvSpPr>
          <p:cNvPr id="24" name="Shape 17"/>
          <p:cNvSpPr/>
          <p:nvPr/>
        </p:nvSpPr>
        <p:spPr>
          <a:xfrm>
            <a:off x="3355848" y="4160520"/>
            <a:ext cx="2606040" cy="214884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25" name="Image 5" descr="/home/claude/ppt/assets/icons/c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304" y="4361688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557016" y="4910328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3557016" y="530352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loans aged 7 / 14 / 21+ days surface a reminder banner</a:t>
            </a:r>
            <a:endParaRPr lang="en-US" sz="980" dirty="0"/>
          </a:p>
        </p:txBody>
      </p:sp>
      <p:sp>
        <p:nvSpPr>
          <p:cNvPr id="28" name="Shape 20"/>
          <p:cNvSpPr/>
          <p:nvPr/>
        </p:nvSpPr>
        <p:spPr>
          <a:xfrm>
            <a:off x="6163056" y="4160520"/>
            <a:ext cx="2606040" cy="214884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29" name="Image 6" descr="/home/claude/ppt/assets/icons/pd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4361688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364224" y="4910328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Excel Reports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364224" y="530352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loan history exportable with totals and generation date</a:t>
            </a:r>
            <a:endParaRPr lang="en-US" sz="980" dirty="0"/>
          </a:p>
        </p:txBody>
      </p:sp>
      <p:sp>
        <p:nvSpPr>
          <p:cNvPr id="32" name="Shape 23"/>
          <p:cNvSpPr/>
          <p:nvPr/>
        </p:nvSpPr>
        <p:spPr>
          <a:xfrm>
            <a:off x="8970264" y="4160520"/>
            <a:ext cx="2606040" cy="214884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33" name="Image 7" descr="/home/claude/ppt/assets/icons/l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0" y="4361688"/>
            <a:ext cx="457200" cy="4572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171432" y="4910328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9171432" y="530352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passwords, CSRF tokens, parameterized queries, per-user data isolation</a:t>
            </a:r>
            <a:endParaRPr lang="en-US" sz="980" dirty="0"/>
          </a:p>
        </p:txBody>
      </p:sp>
      <p:sp>
        <p:nvSpPr>
          <p:cNvPr id="36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Purpose-Mismatch Flagging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purpose and receipt category are drawn from one shared, fixed list — so a match is an exact comparison, not a guess.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61288" cy="384048"/>
          </a:xfrm>
          <a:prstGeom prst="roundRect">
            <a:avLst>
              <a:gd name="adj" fmla="val 19048"/>
            </a:avLst>
          </a:prstGeom>
          <a:solidFill>
            <a:srgbClr val="121D33"/>
          </a:solidFill>
          <a:ln w="12700">
            <a:solidFill>
              <a:srgbClr val="0F9D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56232" y="228600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21D33"/>
          </a:solidFill>
          <a:ln w="12700">
            <a:solidFill>
              <a:srgbClr val="0F9D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56232" y="22860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62656" y="228600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21D33"/>
          </a:solidFill>
          <a:ln w="12700">
            <a:solidFill>
              <a:srgbClr val="0F9D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22860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69080" y="2286000"/>
            <a:ext cx="1764792" cy="384048"/>
          </a:xfrm>
          <a:prstGeom prst="roundRect">
            <a:avLst>
              <a:gd name="adj" fmla="val 19048"/>
            </a:avLst>
          </a:prstGeom>
          <a:solidFill>
            <a:srgbClr val="121D33"/>
          </a:solidFill>
          <a:ln w="12700">
            <a:solidFill>
              <a:srgbClr val="0F9D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2286000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Renovation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0176" y="2286000"/>
            <a:ext cx="859536" cy="384048"/>
          </a:xfrm>
          <a:prstGeom prst="roundRect">
            <a:avLst>
              <a:gd name="adj" fmla="val 19048"/>
            </a:avLst>
          </a:prstGeom>
          <a:solidFill>
            <a:srgbClr val="121D33"/>
          </a:solidFill>
          <a:ln w="12700">
            <a:solidFill>
              <a:srgbClr val="0F9D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0176" y="2286000"/>
            <a:ext cx="859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86016" y="228600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21D33"/>
          </a:solidFill>
          <a:ln w="12700">
            <a:solidFill>
              <a:srgbClr val="0F9D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6016" y="22860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92440" y="2286000"/>
            <a:ext cx="1362456" cy="384048"/>
          </a:xfrm>
          <a:prstGeom prst="roundRect">
            <a:avLst>
              <a:gd name="adj" fmla="val 19048"/>
            </a:avLst>
          </a:prstGeom>
          <a:solidFill>
            <a:srgbClr val="121D33"/>
          </a:solidFill>
          <a:ln w="12700">
            <a:solidFill>
              <a:srgbClr val="0F9D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286000"/>
            <a:ext cx="1362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0" y="22860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121D33"/>
          </a:solidFill>
          <a:ln w="12700">
            <a:solidFill>
              <a:srgbClr val="0F9D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0" y="2286000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21D33"/>
          </a:solidFill>
          <a:ln w="12700">
            <a:solidFill>
              <a:srgbClr val="0F9D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889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55064" y="27889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21D33"/>
          </a:solidFill>
          <a:ln w="12700">
            <a:solidFill>
              <a:srgbClr val="0F9D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55064" y="27889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Durables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67328" y="278892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121D33"/>
          </a:solidFill>
          <a:ln w="12700">
            <a:solidFill>
              <a:srgbClr val="0F9D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2788920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2976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purpose: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6177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68680" y="5166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category uploaded: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5440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52160" y="4800600"/>
            <a:ext cx="731520" cy="365760"/>
          </a:xfrm>
          <a:prstGeom prst="rightArrow">
            <a:avLst/>
          </a:prstGeom>
          <a:solidFill>
            <a:srgbClr val="D4A017"/>
          </a:solidFill>
          <a:ln/>
        </p:spPr>
      </p:sp>
      <p:sp>
        <p:nvSpPr>
          <p:cNvPr id="33" name="Shape 31"/>
          <p:cNvSpPr/>
          <p:nvPr/>
        </p:nvSpPr>
        <p:spPr>
          <a:xfrm>
            <a:off x="6766560" y="4114800"/>
            <a:ext cx="4892040" cy="1737360"/>
          </a:xfrm>
          <a:prstGeom prst="roundRect">
            <a:avLst>
              <a:gd name="adj" fmla="val 5263"/>
            </a:avLst>
          </a:prstGeom>
          <a:solidFill>
            <a:srgbClr val="3A2A0A"/>
          </a:solidFill>
          <a:ln w="25400">
            <a:solidFill>
              <a:srgbClr val="D4A017"/>
            </a:solidFill>
            <a:prstDash val="solid"/>
          </a:ln>
        </p:spPr>
      </p:sp>
      <p:pic>
        <p:nvPicPr>
          <p:cNvPr id="34" name="Image 0" descr="/home/claude/ppt/assets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4370832"/>
            <a:ext cx="502920" cy="5029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772400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Officer Review</a:t>
            </a:r>
            <a:endParaRPr lang="en-US" sz="1550" dirty="0"/>
          </a:p>
        </p:txBody>
      </p:sp>
      <p:sp>
        <p:nvSpPr>
          <p:cNvPr id="36" name="Text 33"/>
          <p:cNvSpPr/>
          <p:nvPr/>
        </p:nvSpPr>
        <p:spPr>
          <a:xfrm>
            <a:off x="7086600" y="49834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needs_review = 1 in the database. Appears in the officer's “Needs Review” list before it can be verified.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46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3175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274320" cy="274320"/>
          </a:xfrm>
          <a:prstGeom prst="oval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customer, default state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959352" y="2761488"/>
            <a:ext cx="630936" cy="237744"/>
          </a:xfrm>
          <a:prstGeom prst="rightArrow">
            <a:avLst/>
          </a:prstGeom>
          <a:solidFill>
            <a:srgbClr val="C9D3E0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103120"/>
            <a:ext cx="3246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31750">
            <a:solidFill>
              <a:srgbClr val="1E9E6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2331720"/>
            <a:ext cx="274320" cy="274320"/>
          </a:xfrm>
          <a:prstGeom prst="oval">
            <a:avLst/>
          </a:prstGeom>
          <a:solidFill>
            <a:srgbClr val="1E9E64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2240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92040" y="27889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accepts — customer can upload receipts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982712" y="2761488"/>
            <a:ext cx="630936" cy="237744"/>
          </a:xfrm>
          <a:prstGeom prst="rightArrow">
            <a:avLst/>
          </a:prstGeom>
          <a:solidFill>
            <a:srgbClr val="C9D3E0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0" y="2103120"/>
            <a:ext cx="3246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31750">
            <a:solidFill>
              <a:srgbClr val="0F9D93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15400" y="2331720"/>
            <a:ext cx="274320" cy="274320"/>
          </a:xfrm>
          <a:prstGeom prst="oval">
            <a:avLst/>
          </a:prstGeom>
          <a:solidFill>
            <a:srgbClr val="0F9D93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2240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915400" y="27889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marks fulfilled after utilization review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3246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31750">
            <a:solidFill>
              <a:srgbClr val="D4372A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389120"/>
            <a:ext cx="274320" cy="274320"/>
          </a:xfrm>
          <a:prstGeom prst="oval">
            <a:avLst/>
          </a:prstGeom>
          <a:solidFill>
            <a:srgbClr val="D4372A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297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48463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declines — loan closed, no further action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572000" y="44805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officer can change a loan's status. A loan stays editable by its customer only while Pending.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 Implemented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96596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5" name="Image 0" descr="/home/claude/ppt/assets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65176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4672" y="3081528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PBKDF2 via Werkzeug — passwords never stored in plain text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4361688" y="1783080"/>
            <a:ext cx="3611880" cy="196596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9" name="Image 1" descr="/home/claude/ppt/assets/icons/secu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116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65176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617720" y="3081528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Flask-WTF tokens required on every form submission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8174736" y="1783080"/>
            <a:ext cx="3611880" cy="196596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13" name="Image 2" descr="/home/claude/ppt/assets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0116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30768" y="265176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Safe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430768" y="3081528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parameterized queries — no string-built SQL anywhere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548640" y="4005072"/>
            <a:ext cx="3611880" cy="196596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17" name="Image 3" descr="/home/claude/ppt/assets/icons/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3367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" y="487375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Isolation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04672" y="5303520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scoped to session user — no cross-account data access</a:t>
            </a:r>
            <a:endParaRPr lang="en-US" sz="1030" dirty="0"/>
          </a:p>
        </p:txBody>
      </p:sp>
      <p:sp>
        <p:nvSpPr>
          <p:cNvPr id="20" name="Shape 14"/>
          <p:cNvSpPr/>
          <p:nvPr/>
        </p:nvSpPr>
        <p:spPr>
          <a:xfrm>
            <a:off x="4361688" y="4005072"/>
            <a:ext cx="3611880" cy="196596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21" name="Image 4" descr="/home/claude/ppt/assets/icons/uplo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233672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17720" y="487375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Validation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617720" y="5303520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whitelist + 5MB cap + sanitized filenames</a:t>
            </a:r>
            <a:endParaRPr lang="en-US" sz="1030" dirty="0"/>
          </a:p>
        </p:txBody>
      </p:sp>
      <p:sp>
        <p:nvSpPr>
          <p:cNvPr id="24" name="Shape 17"/>
          <p:cNvSpPr/>
          <p:nvPr/>
        </p:nvSpPr>
        <p:spPr>
          <a:xfrm>
            <a:off x="8174736" y="4005072"/>
            <a:ext cx="3611880" cy="196596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25" name="Image 5" descr="/home/claude/ppt/assets/icons/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233672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30768" y="487375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Env-Based Secrets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8430768" y="5303520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password &amp; secret key from environment variables, never hardcoded</a:t>
            </a:r>
            <a:endParaRPr lang="en-US" sz="1030" dirty="0"/>
          </a:p>
        </p:txBody>
      </p:sp>
      <p:sp>
        <p:nvSpPr>
          <p:cNvPr id="28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691640"/>
            <a:ext cx="3520440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325112" y="17830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325112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20440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101584" y="17830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101584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Covered</a:t>
            </a:r>
            <a:endParaRPr lang="en-US" sz="1250" dirty="0"/>
          </a:p>
        </p:txBody>
      </p:sp>
      <p:pic>
        <p:nvPicPr>
          <p:cNvPr id="13" name="Image 0" descr="/home/claude/ppt/asse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364992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3337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(register, login, role separation, password hashing)</a:t>
            </a:r>
            <a:endParaRPr lang="en-US" sz="1250" dirty="0"/>
          </a:p>
        </p:txBody>
      </p:sp>
      <p:pic>
        <p:nvPicPr>
          <p:cNvPr id="15" name="Image 1" descr="/home/claude/ppt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0390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05840" y="3776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CRUD (add, edit-while-pending, delete, ownership checks)</a:t>
            </a:r>
            <a:endParaRPr lang="en-US" sz="1250" dirty="0"/>
          </a:p>
        </p:txBody>
      </p:sp>
      <p:pic>
        <p:nvPicPr>
          <p:cNvPr id="17" name="Image 2" descr="/home/claude/ppt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4281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421538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upload (valid/invalid types, size limits, mismatch flagging)</a:t>
            </a:r>
            <a:endParaRPr lang="en-US" sz="1250" dirty="0"/>
          </a:p>
        </p:txBody>
      </p:sp>
      <p:pic>
        <p:nvPicPr>
          <p:cNvPr id="19" name="Image 3" descr="/home/claude/ppt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68172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465429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calculation (verified-only, remaining floor at 0)</a:t>
            </a:r>
            <a:endParaRPr lang="en-US" sz="1250" dirty="0"/>
          </a:p>
        </p:txBody>
      </p:sp>
      <p:pic>
        <p:nvPicPr>
          <p:cNvPr id="21" name="Image 4" descr="/home/claude/ppt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12064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50932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workflow (approve/reject, verify/reject, flagged review list)</a:t>
            </a:r>
            <a:endParaRPr lang="en-US" sz="1250" dirty="0"/>
          </a:p>
        </p:txBody>
      </p:sp>
      <p:pic>
        <p:nvPicPr>
          <p:cNvPr id="23" name="Image 5" descr="/home/claude/ppt/assets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5559552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05840" y="5532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(PDF/Excel export), Security (CSRF, SQLi), Deployment checks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Web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37744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5" name="Image 0" descr="/home/claude/ppt/assets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Flask app via Gunicorn, auto-deploys from GitHub on every push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16552" y="1783080"/>
            <a:ext cx="3611880" cy="237744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9" name="Image 1" descr="/home/claude/ppt/assets/icons/mysq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0574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90872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Aiven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690872" y="3154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SSL-required MySQL instance in the cloud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84464" y="1783080"/>
            <a:ext cx="3611880" cy="2377440"/>
          </a:xfrm>
          <a:prstGeom prst="rect">
            <a:avLst/>
          </a:prstGeom>
          <a:solidFill>
            <a:srgbClr val="F4F6F9"/>
          </a:solidFill>
          <a:ln/>
        </p:spPr>
      </p:sp>
      <p:pic>
        <p:nvPicPr>
          <p:cNvPr id="13" name="Image 2" descr="/home/claude/ppt/assets/icon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0574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58784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Env-Driven Config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558784" y="3154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codebase runs locally (MySQL on localhost) or in production, no code changes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45262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/>
        </p:spPr>
      </p:sp>
      <p:sp>
        <p:nvSpPr>
          <p:cNvPr id="17" name="Text 12"/>
          <p:cNvSpPr/>
          <p:nvPr/>
        </p:nvSpPr>
        <p:spPr>
          <a:xfrm>
            <a:off x="914400" y="4709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743200" y="47091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loan-utilization-tracking-via-mobile-g9zu.onrender.com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free-tier hosting spins down after inactivity — first load after idle time may take ~50 seconds.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65760" cy="365760"/>
          </a:xfrm>
          <a:prstGeom prst="oval">
            <a:avLst/>
          </a:prstGeom>
          <a:solidFill>
            <a:srgbClr val="0F9D9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loan/receipt foreign keys from username to user_id for stricter relational design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532888"/>
            <a:ext cx="365760" cy="365760"/>
          </a:xfrm>
          <a:prstGeom prst="oval">
            <a:avLst/>
          </a:prstGeom>
          <a:solidFill>
            <a:srgbClr val="0F9D9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871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file type verification (magic bytes), not just extension checking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191256"/>
            <a:ext cx="365760" cy="365760"/>
          </a:xfrm>
          <a:prstGeom prst="oval">
            <a:avLst/>
          </a:prstGeom>
          <a:solidFill>
            <a:srgbClr val="0F9D93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91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1455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cloud storage for uploaded receipts (currently ephemeral on free hosting)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849624"/>
            <a:ext cx="365760" cy="365760"/>
          </a:xfrm>
          <a:prstGeom prst="oval">
            <a:avLst/>
          </a:prstGeom>
          <a:solidFill>
            <a:srgbClr val="0F9D93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849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80390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structure — split app.py into routes / models / blueprints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507992"/>
            <a:ext cx="365760" cy="365760"/>
          </a:xfrm>
          <a:prstGeom prst="oval">
            <a:avLst/>
          </a:prstGeom>
          <a:solidFill>
            <a:srgbClr val="0F9D93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507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46227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password policy — enforce mixed case, numbers, symbols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5166360"/>
            <a:ext cx="365760" cy="365760"/>
          </a:xfrm>
          <a:prstGeom prst="oval">
            <a:avLst/>
          </a:prstGeom>
          <a:solidFill>
            <a:srgbClr val="0F9D93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20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 for officer account creation, replacing the manual seed script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icons/lo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0175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Utilization Tracking System  —  Nithya Sri 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2026-07-14T00:23:10Z</dcterms:created>
  <dcterms:modified xsi:type="dcterms:W3CDTF">2026-07-14T00:23:10Z</dcterms:modified>
</cp:coreProperties>
</file>